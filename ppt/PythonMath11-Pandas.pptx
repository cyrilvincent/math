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3"/>
  </p:notesMasterIdLst>
  <p:handoutMasterIdLst>
    <p:handoutMasterId r:id="rId14"/>
  </p:handoutMasterIdLst>
  <p:sldIdLst>
    <p:sldId id="264" r:id="rId2"/>
    <p:sldId id="265" r:id="rId3"/>
    <p:sldId id="266" r:id="rId4"/>
    <p:sldId id="274" r:id="rId5"/>
    <p:sldId id="275" r:id="rId6"/>
    <p:sldId id="279" r:id="rId7"/>
    <p:sldId id="280" r:id="rId8"/>
    <p:sldId id="281" r:id="rId9"/>
    <p:sldId id="276" r:id="rId10"/>
    <p:sldId id="282" r:id="rId11"/>
    <p:sldId id="283" r:id="rId12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/>
              <a:t>Chapitre 11</a:t>
            </a:r>
            <a:endParaRPr lang="fr-FR" altLang="fr-FR" dirty="0"/>
          </a:p>
          <a:p>
            <a:pPr eaLnBrk="1" hangingPunct="1"/>
            <a:r>
              <a:rPr lang="fr-FR" altLang="fr-FR" dirty="0"/>
              <a:t>Pandas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620688"/>
            <a:ext cx="5505450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Pandas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Data </a:t>
            </a:r>
            <a:r>
              <a:rPr lang="fr-FR" dirty="0" err="1"/>
              <a:t>Analysis</a:t>
            </a:r>
            <a:r>
              <a:rPr lang="fr-FR" dirty="0"/>
              <a:t> Library</a:t>
            </a:r>
          </a:p>
          <a:p>
            <a:r>
              <a:rPr lang="fr-FR" dirty="0"/>
              <a:t>Module Python</a:t>
            </a:r>
          </a:p>
          <a:p>
            <a:pPr lvl="1"/>
            <a:r>
              <a:rPr lang="fr-FR" dirty="0"/>
              <a:t>Disponible dans Anaconda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pandas</a:t>
            </a:r>
          </a:p>
          <a:p>
            <a:pPr lvl="1"/>
            <a:r>
              <a:rPr lang="fr-FR" dirty="0"/>
              <a:t>import pandas as </a:t>
            </a:r>
            <a:r>
              <a:rPr lang="fr-FR" dirty="0" err="1"/>
              <a:t>pd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501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structures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fournit 2 structures de données fondamentales</a:t>
            </a:r>
          </a:p>
          <a:p>
            <a:pPr lvl="1"/>
            <a:r>
              <a:rPr lang="fr-FR" dirty="0"/>
              <a:t>la </a:t>
            </a:r>
            <a:r>
              <a:rPr lang="fr-FR" dirty="0" err="1"/>
              <a:t>Series</a:t>
            </a:r>
            <a:r>
              <a:rPr lang="fr-FR" dirty="0"/>
              <a:t> et le </a:t>
            </a:r>
            <a:r>
              <a:rPr lang="fr-FR" dirty="0" err="1"/>
              <a:t>DataFrame</a:t>
            </a:r>
            <a:r>
              <a:rPr lang="fr-FR" dirty="0"/>
              <a:t> </a:t>
            </a:r>
          </a:p>
          <a:p>
            <a:pPr lvl="1"/>
            <a:r>
              <a:rPr lang="fr-FR" dirty="0"/>
              <a:t>On peut voir ces structures comme une généralisation des tableaux et des matrices de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/>
              <a:t>La différence fondamentale entre ces structures et les versions de </a:t>
            </a:r>
            <a:r>
              <a:rPr lang="fr-FR" dirty="0" err="1"/>
              <a:t>Numpy</a:t>
            </a:r>
            <a:r>
              <a:rPr lang="fr-FR" dirty="0"/>
              <a:t> est que les objets Pandas possèdent des indices explicites</a:t>
            </a:r>
          </a:p>
          <a:p>
            <a:pPr lvl="1"/>
            <a:r>
              <a:rPr lang="fr-FR" dirty="0"/>
              <a:t>Là où on ne pouvait se référer à un élément d'un tableau </a:t>
            </a:r>
            <a:r>
              <a:rPr lang="fr-FR" dirty="0" err="1"/>
              <a:t>Numpy</a:t>
            </a:r>
            <a:r>
              <a:rPr lang="fr-FR" dirty="0"/>
              <a:t> que par sa position dans le tableau, chaque élément d'une </a:t>
            </a:r>
            <a:r>
              <a:rPr lang="fr-FR" dirty="0" err="1"/>
              <a:t>Series</a:t>
            </a:r>
            <a:r>
              <a:rPr lang="fr-FR" dirty="0"/>
              <a:t> ou d'un </a:t>
            </a:r>
            <a:r>
              <a:rPr lang="fr-FR" dirty="0" err="1"/>
              <a:t>DataFrame</a:t>
            </a:r>
            <a:r>
              <a:rPr lang="fr-FR" dirty="0"/>
              <a:t> peut avoir un indice explicitement désigné par l'utilisateur</a:t>
            </a:r>
          </a:p>
        </p:txBody>
      </p:sp>
    </p:spTree>
    <p:extLst>
      <p:ext uri="{BB962C8B-B14F-4D97-AF65-F5344CB8AC3E}">
        <p14:creationId xmlns:p14="http://schemas.microsoft.com/office/powerpoint/2010/main" val="1027414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Pandas possède une librairie très puissante pour importer des données depuis n’importe quelle source</a:t>
            </a:r>
          </a:p>
          <a:p>
            <a:pPr lvl="1"/>
            <a:r>
              <a:rPr lang="fr-FR" dirty="0"/>
              <a:t>Puis les converti en </a:t>
            </a:r>
            <a:r>
              <a:rPr lang="fr-FR" dirty="0" err="1"/>
              <a:t>DataFrame</a:t>
            </a:r>
            <a:endParaRPr lang="fr-FR" dirty="0"/>
          </a:p>
          <a:p>
            <a:r>
              <a:rPr lang="fr-FR" dirty="0"/>
              <a:t>CSV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('house.csv')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['surface'],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['loyer'], 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markersize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=4)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6451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Import de données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SQL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with sqlite3.connect("house.db3") as conn:</a:t>
            </a:r>
          </a:p>
          <a:p>
            <a:pPr marL="457200" lvl="1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pd.read_sql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('select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loyer,surface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from house', conn)</a:t>
            </a:r>
          </a:p>
          <a:p>
            <a:r>
              <a:rPr lang="fr-FR" dirty="0"/>
              <a:t>Mongo DB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pymongo.MongoClient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localhost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', 27017) as client: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client.test</a:t>
            </a:r>
            <a:endParaRPr lang="fr-F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db.house.find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house_data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pPr marL="457200" lvl="1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125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56A91-4F66-46CD-A8A1-53898EF0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BD2517-F64F-4502-9320-C748206CC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Describe</a:t>
            </a:r>
            <a:r>
              <a:rPr lang="fr-FR" dirty="0"/>
              <a:t> permet de calculer les données de bases de chaque colonne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8BBD6F-ED22-4F1F-B0DB-F1243EDC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487" y="3058309"/>
            <a:ext cx="74390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46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pouvoir enlever les données aberrantes</a:t>
            </a:r>
          </a:p>
          <a:p>
            <a:r>
              <a:rPr lang="fr-FR" dirty="0"/>
              <a:t>Ou les données non significatives</a:t>
            </a:r>
          </a:p>
          <a:p>
            <a:r>
              <a:rPr lang="fr-FR" dirty="0"/>
              <a:t>Ou les données trop en dehors de l’écart type</a:t>
            </a:r>
          </a:p>
        </p:txBody>
      </p:sp>
      <p:pic>
        <p:nvPicPr>
          <p:cNvPr id="1026" name="Picture 2" descr="Comment détecter des événements rares comme le point rouge?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3284984"/>
            <a:ext cx="4286250" cy="3000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6912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Interprétation après 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Nous pouvons filtrer les surfaces &gt; 300</a:t>
            </a:r>
          </a:p>
          <a:p>
            <a:r>
              <a:rPr lang="fr-FR" dirty="0"/>
              <a:t>Avec </a:t>
            </a:r>
            <a:r>
              <a:rPr lang="fr-FR" dirty="0" err="1"/>
              <a:t>SciPy</a:t>
            </a:r>
            <a:r>
              <a:rPr lang="fr-FR" dirty="0"/>
              <a:t> nous obtenons</a:t>
            </a:r>
          </a:p>
          <a:p>
            <a:pPr lvl="1"/>
            <a:r>
              <a:rPr lang="fr-FR" dirty="0"/>
              <a:t>Loyer = 34.Surface + 71</a:t>
            </a:r>
          </a:p>
          <a:p>
            <a:pPr lvl="1"/>
            <a:r>
              <a:rPr lang="fr-FR" dirty="0"/>
              <a:t>Corrélation = 84.7% (En baisse)</a:t>
            </a:r>
          </a:p>
          <a:p>
            <a:r>
              <a:rPr lang="fr-FR" dirty="0"/>
              <a:t>Meilleur résultat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960" y="3412666"/>
            <a:ext cx="4190237" cy="304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232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Filtrage du </a:t>
            </a:r>
            <a:r>
              <a:rPr lang="fr-FR" dirty="0" err="1"/>
              <a:t>DataFrame</a:t>
            </a:r>
            <a:endParaRPr lang="fr-FR" dirty="0"/>
          </a:p>
          <a:p>
            <a:pPr lvl="1"/>
            <a:r>
              <a:rPr lang="fr-FR" dirty="0" err="1"/>
              <a:t>Dataframe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</a:t>
            </a:r>
            <a:r>
              <a:rPr lang="fr-FR" dirty="0" err="1"/>
              <a:t>dataframe.surface</a:t>
            </a:r>
            <a:r>
              <a:rPr lang="fr-FR" dirty="0"/>
              <a:t> &lt; 200]</a:t>
            </a:r>
          </a:p>
          <a:p>
            <a:r>
              <a:rPr lang="fr-FR" dirty="0"/>
              <a:t>Enlever une dimension</a:t>
            </a:r>
          </a:p>
          <a:p>
            <a:pPr lvl="1"/>
            <a:r>
              <a:rPr lang="fr-FR" dirty="0" err="1"/>
              <a:t>Dataframe.drop</a:t>
            </a:r>
            <a:r>
              <a:rPr lang="fr-FR" dirty="0"/>
              <a:t>(‘Colonne’, axis=1)</a:t>
            </a:r>
          </a:p>
          <a:p>
            <a:r>
              <a:rPr lang="fr-FR" dirty="0"/>
              <a:t>Ajouter une colonne</a:t>
            </a:r>
          </a:p>
          <a:p>
            <a:pPr lvl="1"/>
            <a:r>
              <a:rPr lang="fr-FR" dirty="0" err="1"/>
              <a:t>Dataframe</a:t>
            </a:r>
            <a:r>
              <a:rPr lang="fr-FR" dirty="0"/>
              <a:t>["Colonne"] = </a:t>
            </a:r>
            <a:r>
              <a:rPr lang="fr-FR" dirty="0" err="1"/>
              <a:t>series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32384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Filtrage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Chargement des na values</a:t>
            </a:r>
          </a:p>
          <a:p>
            <a:pPr lvl="1"/>
            <a:r>
              <a:rPr lang="fr-FR" dirty="0"/>
              <a:t>Attribut </a:t>
            </a:r>
            <a:r>
              <a:rPr lang="fr-FR" dirty="0" err="1"/>
              <a:t>na_values</a:t>
            </a:r>
            <a:r>
              <a:rPr lang="fr-FR" dirty="0"/>
              <a:t>="." dans </a:t>
            </a:r>
            <a:r>
              <a:rPr lang="fr-FR" dirty="0" err="1"/>
              <a:t>read_csv</a:t>
            </a:r>
            <a:endParaRPr lang="fr-FR" dirty="0"/>
          </a:p>
          <a:p>
            <a:r>
              <a:rPr lang="fr-FR" dirty="0"/>
              <a:t>Remplacer les champs nuls</a:t>
            </a:r>
          </a:p>
          <a:p>
            <a:pPr lvl="1"/>
            <a:r>
              <a:rPr lang="fr-FR" dirty="0" err="1"/>
              <a:t>dataframe.codePostal</a:t>
            </a:r>
            <a:r>
              <a:rPr lang="fr-FR" dirty="0"/>
              <a:t> = </a:t>
            </a:r>
            <a:r>
              <a:rPr lang="fr-FR" dirty="0" err="1"/>
              <a:t>dataframe.codePostal.fillna</a:t>
            </a:r>
            <a:r>
              <a:rPr lang="fr-FR" dirty="0"/>
              <a:t>('38000')</a:t>
            </a:r>
          </a:p>
          <a:p>
            <a:r>
              <a:rPr lang="fr-FR" dirty="0"/>
              <a:t>Effacer les lignes nuls</a:t>
            </a:r>
          </a:p>
          <a:p>
            <a:pPr lvl="1"/>
            <a:r>
              <a:rPr lang="fr-FR" dirty="0" err="1"/>
              <a:t>dropna</a:t>
            </a:r>
            <a:r>
              <a:rPr lang="fr-FR" dirty="0"/>
              <a:t>()</a:t>
            </a:r>
          </a:p>
          <a:p>
            <a:r>
              <a:rPr lang="fr-FR" dirty="0"/>
              <a:t>Changement de valeurs</a:t>
            </a:r>
          </a:p>
          <a:p>
            <a:pPr lvl="1"/>
            <a:r>
              <a:rPr lang="fr-FR" dirty="0" err="1"/>
              <a:t>dataframe.surface</a:t>
            </a:r>
            <a:r>
              <a:rPr lang="fr-FR" dirty="0"/>
              <a:t> = </a:t>
            </a:r>
            <a:r>
              <a:rPr lang="fr-FR" dirty="0" err="1"/>
              <a:t>dataframe</a:t>
            </a:r>
            <a:r>
              <a:rPr lang="fr-FR" dirty="0"/>
              <a:t>[‘surface'].replace(',', '.',</a:t>
            </a:r>
            <a:r>
              <a:rPr lang="fr-FR" dirty="0" err="1"/>
              <a:t>regex</a:t>
            </a:r>
            <a:r>
              <a:rPr lang="fr-FR" dirty="0"/>
              <a:t>=</a:t>
            </a:r>
            <a:r>
              <a:rPr lang="fr-FR" dirty="0" err="1"/>
              <a:t>True</a:t>
            </a:r>
            <a:r>
              <a:rPr lang="fr-FR" dirty="0"/>
              <a:t>).</a:t>
            </a:r>
            <a:r>
              <a:rPr lang="fr-FR" dirty="0" err="1"/>
              <a:t>astype</a:t>
            </a:r>
            <a:r>
              <a:rPr lang="fr-FR" dirty="0"/>
              <a:t>(</a:t>
            </a:r>
            <a:r>
              <a:rPr lang="fr-FR" dirty="0" err="1"/>
              <a:t>float</a:t>
            </a:r>
            <a:r>
              <a:rPr lang="fr-FR" dirty="0"/>
              <a:t>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2252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09BC61-C093-2D88-B76D-C5EE4D49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DC966DC-89F9-31C5-C605-5D6308477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Trouver le nombre de NaN dans une </a:t>
            </a:r>
            <a:r>
              <a:rPr lang="fr-FR" dirty="0" err="1"/>
              <a:t>serie</a:t>
            </a:r>
            <a:endParaRPr lang="fr-FR" dirty="0"/>
          </a:p>
          <a:p>
            <a:pPr lvl="1"/>
            <a:r>
              <a:rPr lang="fr-FR" dirty="0" err="1"/>
              <a:t>dataframe.isnull</a:t>
            </a:r>
            <a:r>
              <a:rPr lang="fr-FR" dirty="0"/>
              <a:t>().</a:t>
            </a:r>
            <a:r>
              <a:rPr lang="fr-FR" dirty="0" err="1"/>
              <a:t>sum</a:t>
            </a:r>
            <a:r>
              <a:rPr lang="fr-FR" dirty="0"/>
              <a:t>()</a:t>
            </a:r>
          </a:p>
          <a:p>
            <a:r>
              <a:rPr lang="fr-FR" dirty="0"/>
              <a:t>Remplacer les valeurs nulles par un moyenne + du bruit</a:t>
            </a:r>
          </a:p>
          <a:p>
            <a:pPr lvl="1"/>
            <a:r>
              <a:rPr lang="fr-FR" sz="1600" dirty="0" err="1"/>
              <a:t>df</a:t>
            </a:r>
            <a:r>
              <a:rPr lang="fr-FR" sz="1600" dirty="0"/>
              <a:t>["</a:t>
            </a:r>
            <a:r>
              <a:rPr lang="fr-FR" sz="1600" dirty="0" err="1"/>
              <a:t>chol</a:t>
            </a:r>
            <a:r>
              <a:rPr lang="fr-FR" sz="1600" dirty="0"/>
              <a:t>"] = </a:t>
            </a:r>
            <a:r>
              <a:rPr lang="fr-FR" sz="1600" dirty="0" err="1"/>
              <a:t>df</a:t>
            </a:r>
            <a:r>
              <a:rPr lang="fr-FR" sz="1600" dirty="0"/>
              <a:t>["</a:t>
            </a:r>
            <a:r>
              <a:rPr lang="fr-FR" sz="1600" dirty="0" err="1"/>
              <a:t>chol</a:t>
            </a:r>
            <a:r>
              <a:rPr lang="fr-FR" sz="1600" dirty="0"/>
              <a:t>"].</a:t>
            </a:r>
            <a:r>
              <a:rPr lang="fr-FR" sz="1600" dirty="0" err="1"/>
              <a:t>fillna</a:t>
            </a:r>
            <a:r>
              <a:rPr lang="fr-FR" sz="1600" dirty="0"/>
              <a:t>(</a:t>
            </a:r>
            <a:r>
              <a:rPr lang="fr-FR" sz="1600" dirty="0" err="1"/>
              <a:t>mean_chol</a:t>
            </a:r>
            <a:r>
              <a:rPr lang="fr-FR" sz="1600" dirty="0"/>
              <a:t> + (</a:t>
            </a:r>
            <a:r>
              <a:rPr lang="fr-FR" sz="1600" dirty="0" err="1"/>
              <a:t>np.random.rand</a:t>
            </a:r>
            <a:r>
              <a:rPr lang="fr-FR" sz="1600" dirty="0"/>
              <a:t>() - 0.5) * </a:t>
            </a:r>
            <a:r>
              <a:rPr lang="fr-FR" sz="1600" dirty="0" err="1"/>
              <a:t>std_chol</a:t>
            </a:r>
            <a:r>
              <a:rPr lang="fr-FR" sz="1600"/>
              <a:t>)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506944565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9094</TotalTime>
  <Words>464</Words>
  <Application>Microsoft Office PowerPoint</Application>
  <PresentationFormat>Affichage à l'écran (4:3)</PresentationFormat>
  <Paragraphs>64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Arial</vt:lpstr>
      <vt:lpstr>Courier New</vt:lpstr>
      <vt:lpstr>Monotype Sorts</vt:lpstr>
      <vt:lpstr>Times New Roman</vt:lpstr>
      <vt:lpstr>cvc</vt:lpstr>
      <vt:lpstr>Présentation PowerPoint</vt:lpstr>
      <vt:lpstr>Pandas</vt:lpstr>
      <vt:lpstr>Les structures de données</vt:lpstr>
      <vt:lpstr>Import de données</vt:lpstr>
      <vt:lpstr>Import de données</vt:lpstr>
      <vt:lpstr>Describe</vt:lpstr>
      <vt:lpstr>Filtrage</vt:lpstr>
      <vt:lpstr>Interprétation après filtrage</vt:lpstr>
      <vt:lpstr>Filtrage</vt:lpstr>
      <vt:lpstr>Filtrage</vt:lpstr>
      <vt:lpstr>Exemple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CPT-FP9</cp:lastModifiedBy>
  <cp:revision>269</cp:revision>
  <dcterms:created xsi:type="dcterms:W3CDTF">2000-04-10T19:33:12Z</dcterms:created>
  <dcterms:modified xsi:type="dcterms:W3CDTF">2025-11-05T09:52:09Z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